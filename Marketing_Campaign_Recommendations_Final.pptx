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el Albornoz" userId="857ece188491afe8" providerId="LiveId" clId="{3C17915A-1069-4FE4-9A9E-9F34E597328D}"/>
    <pc:docChg chg="modSld">
      <pc:chgData name="Daviel Albornoz" userId="857ece188491afe8" providerId="LiveId" clId="{3C17915A-1069-4FE4-9A9E-9F34E597328D}" dt="2026-04-16T17:13:33.907" v="12" actId="255"/>
      <pc:docMkLst>
        <pc:docMk/>
      </pc:docMkLst>
      <pc:sldChg chg="modSp mod">
        <pc:chgData name="Daviel Albornoz" userId="857ece188491afe8" providerId="LiveId" clId="{3C17915A-1069-4FE4-9A9E-9F34E597328D}" dt="2026-04-16T17:13:33.907" v="12" actId="255"/>
        <pc:sldMkLst>
          <pc:docMk/>
          <pc:sldMk cId="0" sldId="256"/>
        </pc:sldMkLst>
        <pc:spChg chg="mod">
          <ac:chgData name="Daviel Albornoz" userId="857ece188491afe8" providerId="LiveId" clId="{3C17915A-1069-4FE4-9A9E-9F34E597328D}" dt="2026-04-16T17:13:33.907" v="12" actId="255"/>
          <ac:spMkLst>
            <pc:docMk/>
            <pc:sldMk cId="0" sldId="256"/>
            <ac:spMk id="2" creationId="{00000000-0000-0000-0000-000000000000}"/>
          </ac:spMkLst>
        </pc:spChg>
        <pc:spChg chg="mod">
          <ac:chgData name="Daviel Albornoz" userId="857ece188491afe8" providerId="LiveId" clId="{3C17915A-1069-4FE4-9A9E-9F34E597328D}" dt="2026-04-16T17:13:16.860" v="9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Daviel Albornoz" userId="857ece188491afe8" providerId="LiveId" clId="{3C17915A-1069-4FE4-9A9E-9F34E597328D}" dt="2026-04-16T17:11:09.440" v="3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Daviel Albornoz" userId="857ece188491afe8" providerId="LiveId" clId="{3C17915A-1069-4FE4-9A9E-9F34E597328D}" dt="2026-04-16T17:11:13.996" v="4" actId="1076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Daviel Albornoz" userId="857ece188491afe8" providerId="LiveId" clId="{3C17915A-1069-4FE4-9A9E-9F34E597328D}" dt="2026-04-16T17:11:40.547" v="6" actId="1076"/>
        <pc:sldMkLst>
          <pc:docMk/>
          <pc:sldMk cId="0" sldId="257"/>
        </pc:sldMkLst>
        <pc:spChg chg="mod">
          <ac:chgData name="Daviel Albornoz" userId="857ece188491afe8" providerId="LiveId" clId="{3C17915A-1069-4FE4-9A9E-9F34E597328D}" dt="2026-04-16T17:11:40.547" v="6" actId="1076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Daviel Albornoz" userId="857ece188491afe8" providerId="LiveId" clId="{3C17915A-1069-4FE4-9A9E-9F34E597328D}" dt="2026-04-16T17:11:29.105" v="5" actId="1076"/>
        <pc:sldMkLst>
          <pc:docMk/>
          <pc:sldMk cId="0" sldId="258"/>
        </pc:sldMkLst>
        <pc:spChg chg="mod">
          <ac:chgData name="Daviel Albornoz" userId="857ece188491afe8" providerId="LiveId" clId="{3C17915A-1069-4FE4-9A9E-9F34E597328D}" dt="2026-04-16T17:11:29.105" v="5" actId="1076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Daviel Albornoz" userId="857ece188491afe8" providerId="LiveId" clId="{3C17915A-1069-4FE4-9A9E-9F34E597328D}" dt="2026-04-16T17:11:47.980" v="7" actId="1076"/>
        <pc:sldMkLst>
          <pc:docMk/>
          <pc:sldMk cId="0" sldId="259"/>
        </pc:sldMkLst>
        <pc:spChg chg="mod">
          <ac:chgData name="Daviel Albornoz" userId="857ece188491afe8" providerId="LiveId" clId="{3C17915A-1069-4FE4-9A9E-9F34E597328D}" dt="2026-04-16T17:11:47.980" v="7" actId="1076"/>
          <ac:spMkLst>
            <pc:docMk/>
            <pc:sldMk cId="0" sldId="259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39" y="411480"/>
            <a:ext cx="58349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20364F"/>
                </a:solidFill>
              </a:rPr>
              <a:t>Marketing Campaign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0043"/>
            <a:ext cx="6400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1D2A3A"/>
                </a:solidFill>
              </a:rPr>
              <a:t>Focus on Campaign B + Email to grow new-customer sales.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74058"/>
            <a:ext cx="6126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1D2A3A"/>
                </a:solidFill>
              </a:rPr>
              <a:t>Campaign B, the formal and corporative tone, delivers the strongest revenue result at scale and outperforms Campaign A across all channels on total new-customer sales.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822960"/>
            <a:ext cx="2011680" cy="1554480"/>
          </a:xfrm>
          <a:prstGeom prst="roundRect">
            <a:avLst/>
          </a:prstGeom>
          <a:solidFill>
            <a:srgbClr val="20364F"/>
          </a:solidFill>
          <a:ln>
            <a:solidFill>
              <a:srgbClr val="20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 dirty="0">
                <a:solidFill>
                  <a:srgbClr val="FFFFFF"/>
                </a:solidFill>
              </a:rPr>
              <a:t>Top Sales</a:t>
            </a:r>
          </a:p>
          <a:p>
            <a:pPr>
              <a:spcBef>
                <a:spcPts val="800"/>
              </a:spcBef>
            </a:pPr>
            <a:r>
              <a:rPr sz="2400" b="1" dirty="0">
                <a:solidFill>
                  <a:srgbClr val="FFFFFF"/>
                </a:solidFill>
              </a:rPr>
              <a:t>$225,286</a:t>
            </a:r>
          </a:p>
          <a:p>
            <a:pPr>
              <a:spcBef>
                <a:spcPts val="800"/>
              </a:spcBef>
            </a:pPr>
            <a:r>
              <a:rPr sz="1200" dirty="0">
                <a:solidFill>
                  <a:srgbClr val="FFFFFF"/>
                </a:solidFill>
              </a:rPr>
              <a:t>from new customers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822960"/>
            <a:ext cx="2011680" cy="1554480"/>
          </a:xfrm>
          <a:prstGeom prst="roundRect">
            <a:avLst/>
          </a:prstGeom>
          <a:solidFill>
            <a:srgbClr val="2F7F7B"/>
          </a:solidFill>
          <a:ln>
            <a:solidFill>
              <a:srgbClr val="2F7F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Conversion</a:t>
            </a:r>
          </a:p>
          <a:p>
            <a:pPr>
              <a:spcBef>
                <a:spcPts val="800"/>
              </a:spcBef>
            </a:pPr>
            <a:r>
              <a:rPr sz="2400" b="1">
                <a:solidFill>
                  <a:srgbClr val="FFFFFF"/>
                </a:solidFill>
              </a:rPr>
              <a:t>48.18%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for B +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dirty="0">
                <a:solidFill>
                  <a:srgbClr val="1D2A3A"/>
                </a:solidFill>
              </a:rPr>
              <a:t>B + Email generated $225,285.52 from 9,700 new-customer leads.</a:t>
            </a:r>
          </a:p>
          <a:p>
            <a:pPr>
              <a:spcAft>
                <a:spcPts val="1000"/>
              </a:spcAft>
            </a:pPr>
            <a:r>
              <a:rPr sz="2200" dirty="0">
                <a:solidFill>
                  <a:srgbClr val="1D2A3A"/>
                </a:solidFill>
              </a:rPr>
              <a:t>It captured 22.79% of all new-customer revenue in the dataset.</a:t>
            </a:r>
          </a:p>
          <a:p>
            <a:pPr>
              <a:spcAft>
                <a:spcPts val="1000"/>
              </a:spcAft>
            </a:pPr>
            <a:r>
              <a:rPr sz="2200" dirty="0">
                <a:solidFill>
                  <a:srgbClr val="1D2A3A"/>
                </a:solidFill>
              </a:rPr>
              <a:t>It converted above the portfolio average of 47.86%.</a:t>
            </a:r>
          </a:p>
          <a:p>
            <a:pPr>
              <a:spcAft>
                <a:spcPts val="1000"/>
              </a:spcAft>
            </a:pPr>
            <a:r>
              <a:rPr sz="2200" dirty="0">
                <a:solidFill>
                  <a:srgbClr val="1D2A3A"/>
                </a:solidFill>
              </a:rPr>
              <a:t>Campaign B outperformed Campaign A by $123,738.46 at the campaign level.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0364F"/>
                </a:solidFill>
              </a:rPr>
              <a:t>Why This Recommendation Wins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2377440" cy="1463040"/>
          </a:xfrm>
          <a:prstGeom prst="roundRect">
            <a:avLst/>
          </a:prstGeom>
          <a:solidFill>
            <a:srgbClr val="C96B59"/>
          </a:solidFill>
          <a:ln>
            <a:solidFill>
              <a:srgbClr val="C96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New-Customer Sales Pool</a:t>
            </a:r>
          </a:p>
          <a:p>
            <a:pPr>
              <a:spcBef>
                <a:spcPts val="800"/>
              </a:spcBef>
            </a:pPr>
            <a:r>
              <a:rPr sz="2400" b="1">
                <a:solidFill>
                  <a:srgbClr val="FFFFFF"/>
                </a:solidFill>
              </a:rPr>
              <a:t>$988,529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Total revenue analyzed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54680" y="914400"/>
            <a:ext cx="2377440" cy="1463040"/>
          </a:xfrm>
          <a:prstGeom prst="roundRect">
            <a:avLst/>
          </a:prstGeom>
          <a:solidFill>
            <a:srgbClr val="2F7F7B"/>
          </a:solidFill>
          <a:ln>
            <a:solidFill>
              <a:srgbClr val="2F7F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Average Conversion</a:t>
            </a:r>
          </a:p>
          <a:p>
            <a:pPr>
              <a:spcBef>
                <a:spcPts val="800"/>
              </a:spcBef>
            </a:pPr>
            <a:r>
              <a:rPr sz="2400" b="1">
                <a:solidFill>
                  <a:srgbClr val="FFFFFF"/>
                </a:solidFill>
              </a:rPr>
              <a:t>47.86%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Portfolio 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914400"/>
            <a:ext cx="2651760" cy="1463040"/>
          </a:xfrm>
          <a:prstGeom prst="roundRect">
            <a:avLst/>
          </a:prstGeom>
          <a:solidFill>
            <a:srgbClr val="20364F"/>
          </a:solidFill>
          <a:ln>
            <a:solidFill>
              <a:srgbClr val="20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B Email vs A Email</a:t>
            </a:r>
          </a:p>
          <a:p>
            <a:pPr>
              <a:spcBef>
                <a:spcPts val="800"/>
              </a:spcBef>
            </a:pPr>
            <a:r>
              <a:rPr sz="2400" b="1">
                <a:solidFill>
                  <a:srgbClr val="FFFFFF"/>
                </a:solidFill>
              </a:rPr>
              <a:t>+$47,919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Incremental sales lift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914400"/>
            <a:ext cx="2743200" cy="1463040"/>
          </a:xfrm>
          <a:prstGeom prst="roundRect">
            <a:avLst/>
          </a:prstGeom>
          <a:solidFill>
            <a:srgbClr val="CA8F2C"/>
          </a:solidFill>
          <a:ln>
            <a:solidFill>
              <a:srgbClr val="CA8F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Tone Winner</a:t>
            </a:r>
          </a:p>
          <a:p>
            <a:pPr>
              <a:spcBef>
                <a:spcPts val="800"/>
              </a:spcBef>
            </a:pPr>
            <a:r>
              <a:rPr sz="2400" b="1">
                <a:solidFill>
                  <a:srgbClr val="FFFFFF"/>
                </a:solidFill>
              </a:rPr>
              <a:t>Campaign B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</a:rPr>
              <a:t>Leads in every channel on total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D2A3A"/>
                </a:solidFill>
              </a:rPr>
              <a:t>Email is the largest new-customer revenue channel overall.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D2A3A"/>
                </a:solidFill>
              </a:rPr>
              <a:t>Campaign B pairs high reach with above-average conversion.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D2A3A"/>
                </a:solidFill>
              </a:rPr>
              <a:t>The formal message scales better than the informal message in this dataset.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D2A3A"/>
                </a:solidFill>
              </a:rPr>
              <a:t>The recommendation is revenue-driven and suited for immediate budget prioritization.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2743200"/>
          <a:ext cx="5577840" cy="3481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Campaign</a:t>
                      </a:r>
                    </a:p>
                  </a:txBody>
                  <a:tcPr>
                    <a:solidFill>
                      <a:srgbClr val="20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Tone</a:t>
                      </a:r>
                    </a:p>
                  </a:txBody>
                  <a:tcPr>
                    <a:solidFill>
                      <a:srgbClr val="20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Channel</a:t>
                      </a:r>
                    </a:p>
                  </a:txBody>
                  <a:tcPr>
                    <a:solidFill>
                      <a:srgbClr val="20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Leads</a:t>
                      </a:r>
                    </a:p>
                  </a:txBody>
                  <a:tcPr>
                    <a:solidFill>
                      <a:srgbClr val="20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Conv.</a:t>
                      </a:r>
                    </a:p>
                  </a:txBody>
                  <a:tcPr>
                    <a:solidFill>
                      <a:srgbClr val="20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Sales</a:t>
                      </a:r>
                    </a:p>
                  </a:txBody>
                  <a:tcPr>
                    <a:solidFill>
                      <a:srgbClr val="20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Formal / corporative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Email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9,700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48.18%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$225,286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Informal / conversational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7,683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47.22%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$177,367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Formal / corporative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Instagram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7,100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48.30%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$166,722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Formal / corporative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Web Banner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7,110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47.64%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$164,126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Informal / conversational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Instagram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5,456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48.72%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$127,815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Informal / conversational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Web Banner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5,548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47.12%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$127,213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0364F"/>
                </a:solidFill>
              </a:rPr>
              <a:t>Channel-Level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D2A3A"/>
                </a:solidFill>
              </a:rPr>
              <a:t>Email: Campaign B delivers $47,918.55 more sales than Campaign A and lifts conversion by 0.95 percentage points.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D2A3A"/>
                </a:solidFill>
              </a:rPr>
              <a:t>Instagram: Campaign B adds $38,907.24 more sales, even though Campaign A converts slightly better.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D2A3A"/>
                </a:solidFill>
              </a:rPr>
              <a:t>Web Banner: Campaign B adds $36,912.67 and improves conversion by 0.52 points.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D2A3A"/>
                </a:solidFill>
              </a:rPr>
              <a:t>Conclusion: the formal tone is the more reliable growth lever when the goal is new-customer revenue expansion.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234440"/>
          <a:ext cx="48463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Channel</a:t>
                      </a:r>
                    </a:p>
                  </a:txBody>
                  <a:tcPr>
                    <a:solidFill>
                      <a:srgbClr val="20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 - A Sales</a:t>
                      </a:r>
                    </a:p>
                  </a:txBody>
                  <a:tcPr>
                    <a:solidFill>
                      <a:srgbClr val="20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Conv. Delta</a:t>
                      </a:r>
                    </a:p>
                  </a:txBody>
                  <a:tcPr>
                    <a:solidFill>
                      <a:srgbClr val="20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Email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$47,919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+0.95 pp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Instagram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$38,907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-0.42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Web Banner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$36,913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D2A3A"/>
                          </a:solidFill>
                        </a:rPr>
                        <a:t>+0.52 pp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3749039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0364F"/>
                </a:solidFill>
              </a:rPr>
              <a:t>Secondary recommendation: keep Campaign B + Instagram as the next optimization lane. It combines strong efficiency with meaningful scale and is the best follow-up test after Email.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11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0364F"/>
                </a:solidFill>
              </a:rPr>
              <a:t>Recommended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D2A3A"/>
                </a:solidFill>
              </a:rPr>
              <a:t>Prioritize incremental budget on Campaign B + Email.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D2A3A"/>
                </a:solidFill>
              </a:rPr>
              <a:t>Reuse the strongest formal value propositions and CTAs in the email journey.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D2A3A"/>
                </a:solidFill>
              </a:rPr>
              <a:t>Test subject lines, offer framing, and onboarding prompts inside Email to raise conversion further.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D2A3A"/>
                </a:solidFill>
              </a:rPr>
              <a:t>Run Campaign B + Instagram as the secondary optimization track.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D2A3A"/>
                </a:solidFill>
              </a:rPr>
              <a:t>Retain Campaign A + Instagram as a learning benchmark for conversational social messaging.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692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</a:rPr>
              <a:t>Note: This recommendation is based on revenue, conversion, and scale. The dataset does not include media spend, so it is not a full ROI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480</Words>
  <Application>Microsoft Office PowerPoint</Application>
  <PresentationFormat>Widescreen</PresentationFormat>
  <Paragraphs>97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Daviel Albornoz</cp:lastModifiedBy>
  <cp:revision>1</cp:revision>
  <dcterms:created xsi:type="dcterms:W3CDTF">2013-01-27T09:14:16Z</dcterms:created>
  <dcterms:modified xsi:type="dcterms:W3CDTF">2026-04-16T17:13:40Z</dcterms:modified>
  <cp:category/>
</cp:coreProperties>
</file>