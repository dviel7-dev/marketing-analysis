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0364F"/>
                </a:solidFill>
              </a:rPr>
              <a:t>Marketing Investment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6583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2A3A"/>
                </a:solidFill>
              </a:rPr>
              <a:t>Primary recommendation: Campaign B +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6217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D2A3A"/>
                </a:solidFill>
              </a:rPr>
              <a:t>With equal spend across all campaign-channel cells in a one-week test, Campaign B + Email is the strongest option because it produces the highest total revenue overall and still ranks first among new customers.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777240"/>
            <a:ext cx="1920240" cy="1554480"/>
          </a:xfrm>
          <a:prstGeom prst="roundRect">
            <a:avLst/>
          </a:prstGeom>
          <a:solidFill>
            <a:srgbClr val="20364F"/>
          </a:solidFill>
          <a:ln>
            <a:solidFill>
              <a:srgbClr val="20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Overall Sales</a:t>
            </a:r>
          </a:p>
          <a:p>
            <a:pPr>
              <a:spcBef>
                <a:spcPts val="600"/>
              </a:spcBef>
            </a:pPr>
            <a:r>
              <a:rPr sz="2200" b="1">
                <a:solidFill>
                  <a:srgbClr val="FFFFFF"/>
                </a:solidFill>
              </a:rPr>
              <a:t>$533.0K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FFFF"/>
                </a:solidFill>
              </a:rPr>
              <a:t>Top weekly result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777240"/>
            <a:ext cx="1920240" cy="1554480"/>
          </a:xfrm>
          <a:prstGeom prst="roundRect">
            <a:avLst/>
          </a:prstGeom>
          <a:solidFill>
            <a:srgbClr val="2F7F7B"/>
          </a:solidFill>
          <a:ln>
            <a:solidFill>
              <a:srgbClr val="2F7F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Conversion</a:t>
            </a:r>
          </a:p>
          <a:p>
            <a:pPr>
              <a:spcBef>
                <a:spcPts val="600"/>
              </a:spcBef>
            </a:pPr>
            <a:r>
              <a:rPr sz="2200" b="1">
                <a:solidFill>
                  <a:srgbClr val="FFFFFF"/>
                </a:solidFill>
              </a:rPr>
              <a:t>47.77%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FFFF"/>
                </a:solidFill>
              </a:rPr>
              <a:t>Overall B + Email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651760"/>
            <a:ext cx="1920240" cy="1554480"/>
          </a:xfrm>
          <a:prstGeom prst="roundRect">
            <a:avLst/>
          </a:prstGeom>
          <a:solidFill>
            <a:srgbClr val="C96B59"/>
          </a:solidFill>
          <a:ln>
            <a:solidFill>
              <a:srgbClr val="C96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New Customers</a:t>
            </a:r>
          </a:p>
          <a:p>
            <a:pPr>
              <a:spcBef>
                <a:spcPts val="600"/>
              </a:spcBef>
            </a:pPr>
            <a:r>
              <a:rPr sz="2200" b="1">
                <a:solidFill>
                  <a:srgbClr val="FFFFFF"/>
                </a:solidFill>
              </a:rPr>
              <a:t>$225.3K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FFFF"/>
                </a:solidFill>
              </a:rPr>
              <a:t>Same winner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2651760"/>
            <a:ext cx="1920240" cy="1554480"/>
          </a:xfrm>
          <a:prstGeom prst="roundRect">
            <a:avLst/>
          </a:prstGeom>
          <a:solidFill>
            <a:srgbClr val="CA8F2C"/>
          </a:solidFill>
          <a:ln>
            <a:solidFill>
              <a:srgbClr val="CA8F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Runner-up Gap</a:t>
            </a:r>
          </a:p>
          <a:p>
            <a:pPr>
              <a:spcBef>
                <a:spcPts val="600"/>
              </a:spcBef>
            </a:pPr>
            <a:r>
              <a:rPr sz="2200" b="1">
                <a:solidFill>
                  <a:srgbClr val="FFFFFF"/>
                </a:solidFill>
              </a:rPr>
              <a:t>$118.3K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FFFF"/>
                </a:solidFill>
              </a:rPr>
              <a:t>Vs. B + Instagram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6035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D2A3A"/>
                </a:solidFill>
              </a:rPr>
              <a:t>Campaign A = casual tone; Campaign B = sales-oriented tone.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D2A3A"/>
                </a:solidFill>
              </a:rPr>
              <a:t>B + Email generated $533,036.65 from 23,065 interactions.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D2A3A"/>
                </a:solidFill>
              </a:rPr>
              <a:t>The same combination produced $225,285.52 in the new-customer segment.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D2A3A"/>
                </a:solidFill>
              </a:rPr>
              <a:t>Decision rule: under equal spend, prioritize the cell with the highest realized revenue and validate efficiency second.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0364F"/>
                </a:solidFill>
              </a:rPr>
              <a:t>EDA Snapshot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2286000" cy="1371600"/>
          </a:xfrm>
          <a:prstGeom prst="roundRect">
            <a:avLst/>
          </a:prstGeom>
          <a:solidFill>
            <a:srgbClr val="20364F"/>
          </a:solidFill>
          <a:ln>
            <a:solidFill>
              <a:srgbClr val="20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Rows</a:t>
            </a:r>
          </a:p>
          <a:p>
            <a:pPr>
              <a:spcBef>
                <a:spcPts val="600"/>
              </a:spcBef>
            </a:pPr>
            <a:r>
              <a:rPr sz="2200" b="1">
                <a:solidFill>
                  <a:srgbClr val="FFFFFF"/>
                </a:solidFill>
              </a:rPr>
              <a:t>100,000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FFFF"/>
                </a:solidFill>
              </a:rPr>
              <a:t>One-week interactions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63240" y="914400"/>
            <a:ext cx="2286000" cy="1371600"/>
          </a:xfrm>
          <a:prstGeom prst="roundRect">
            <a:avLst/>
          </a:prstGeom>
          <a:solidFill>
            <a:srgbClr val="2F7F7B"/>
          </a:solidFill>
          <a:ln>
            <a:solidFill>
              <a:srgbClr val="2F7F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Data Quality</a:t>
            </a:r>
          </a:p>
          <a:p>
            <a:pPr>
              <a:spcBef>
                <a:spcPts val="600"/>
              </a:spcBef>
            </a:pPr>
            <a:r>
              <a:rPr sz="2200" b="1">
                <a:solidFill>
                  <a:srgbClr val="FFFFFF"/>
                </a:solidFill>
              </a:rPr>
              <a:t>Clean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FFFF"/>
                </a:solidFill>
              </a:rPr>
              <a:t>0 missing, 0 duplicate IDs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0" y="914400"/>
            <a:ext cx="2560320" cy="1371600"/>
          </a:xfrm>
          <a:prstGeom prst="roundRect">
            <a:avLst/>
          </a:prstGeom>
          <a:solidFill>
            <a:srgbClr val="C96B59"/>
          </a:solidFill>
          <a:ln>
            <a:solidFill>
              <a:srgbClr val="C96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Total Sales</a:t>
            </a:r>
          </a:p>
          <a:p>
            <a:pPr>
              <a:spcBef>
                <a:spcPts val="600"/>
              </a:spcBef>
            </a:pPr>
            <a:r>
              <a:rPr sz="2200" b="1">
                <a:solidFill>
                  <a:srgbClr val="FFFFFF"/>
                </a:solidFill>
              </a:rPr>
              <a:t>$2.3M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FFFF"/>
                </a:solidFill>
              </a:rPr>
              <a:t>Observed revenue pool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914400"/>
            <a:ext cx="2743200" cy="1371600"/>
          </a:xfrm>
          <a:prstGeom prst="roundRect">
            <a:avLst/>
          </a:prstGeom>
          <a:solidFill>
            <a:srgbClr val="CA8F2C"/>
          </a:solidFill>
          <a:ln>
            <a:solidFill>
              <a:srgbClr val="CA8F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New-Customer Share</a:t>
            </a:r>
          </a:p>
          <a:p>
            <a:pPr>
              <a:spcBef>
                <a:spcPts val="600"/>
              </a:spcBef>
            </a:pPr>
            <a:r>
              <a:rPr sz="2200" b="1">
                <a:solidFill>
                  <a:srgbClr val="FFFFFF"/>
                </a:solidFill>
              </a:rPr>
              <a:t>42.60%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FFFF"/>
                </a:solidFill>
              </a:rPr>
              <a:t>Of all interactions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D2A3A"/>
                </a:solidFill>
              </a:rPr>
              <a:t>Email is the largest revenue channel overall at $947,748.87.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D2A3A"/>
                </a:solidFill>
              </a:rPr>
              <a:t>Email also leads among new customers at $402,652.49.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D2A3A"/>
                </a:solidFill>
              </a:rPr>
              <a:t>Instagram is the most efficient new-customer channel at $23.46 per interaction.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D2A3A"/>
                </a:solidFill>
              </a:rPr>
              <a:t>Average time on site is stable at 134.57 seconds, so the winner is not explained by a large engagement gap.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0364F"/>
                </a:solidFill>
              </a:rPr>
              <a:t>Overall Ranking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91440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9638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Rank</a:t>
                      </a:r>
                    </a:p>
                  </a:txBody>
                  <a:tcPr>
                    <a:solidFill>
                      <a:srgbClr val="20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Camp.</a:t>
                      </a:r>
                    </a:p>
                  </a:txBody>
                  <a:tcPr>
                    <a:solidFill>
                      <a:srgbClr val="20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Tone</a:t>
                      </a:r>
                    </a:p>
                  </a:txBody>
                  <a:tcPr>
                    <a:solidFill>
                      <a:srgbClr val="20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Channel</a:t>
                      </a:r>
                    </a:p>
                  </a:txBody>
                  <a:tcPr>
                    <a:solidFill>
                      <a:srgbClr val="20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Interactions</a:t>
                      </a:r>
                    </a:p>
                  </a:txBody>
                  <a:tcPr>
                    <a:solidFill>
                      <a:srgbClr val="20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Conv.</a:t>
                      </a:r>
                    </a:p>
                  </a:txBody>
                  <a:tcPr>
                    <a:solidFill>
                      <a:srgbClr val="20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Sales</a:t>
                      </a:r>
                    </a:p>
                  </a:txBody>
                  <a:tcPr>
                    <a:solidFill>
                      <a:srgbClr val="20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Sales / Lead</a:t>
                      </a:r>
                    </a:p>
                  </a:txBody>
                  <a:tcPr>
                    <a:solidFill>
                      <a:srgbClr val="20364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Sales-oriented tone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Email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23,065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47.77%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$533,036.65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$23.11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Casual tone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18,071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47.11%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$414,712.22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$22.95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Sales-oriented tone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Web Banner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16,694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47.55%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$385,345.70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$23.08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Sales-oriented tone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Instagram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16,459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47.76%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$382,487.78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$23.24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Casual tone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Instagram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12,880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48.68%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$302,735.29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$23.50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Casual tone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Web Banner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12,831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47.60%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$296,424.89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$23.10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0916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D2A3A"/>
                </a:solidFill>
              </a:rPr>
              <a:t>B + Email is first on total sales and first on revenue share at 23.03% of all observed sales.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D2A3A"/>
                </a:solidFill>
              </a:rPr>
              <a:t>B + Instagram is the next best combination and the strongest secondary test path.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0364F"/>
                </a:solidFill>
              </a:rPr>
              <a:t>Why B + Email Wins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2514600" cy="1371600"/>
          </a:xfrm>
          <a:prstGeom prst="roundRect">
            <a:avLst/>
          </a:prstGeom>
          <a:solidFill>
            <a:srgbClr val="20364F"/>
          </a:solidFill>
          <a:ln>
            <a:solidFill>
              <a:srgbClr val="20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Overall Test</a:t>
            </a:r>
          </a:p>
          <a:p>
            <a:pPr>
              <a:spcBef>
                <a:spcPts val="600"/>
              </a:spcBef>
            </a:pPr>
            <a:r>
              <a:rPr sz="2200" b="1">
                <a:solidFill>
                  <a:srgbClr val="FFFFFF"/>
                </a:solidFill>
              </a:rPr>
              <a:t>p = 0.965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FFFF"/>
                </a:solidFill>
              </a:rPr>
              <a:t>Campaign-level conversion parity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914400"/>
            <a:ext cx="2514600" cy="1371600"/>
          </a:xfrm>
          <a:prstGeom prst="roundRect">
            <a:avLst/>
          </a:prstGeom>
          <a:solidFill>
            <a:srgbClr val="2F7F7B"/>
          </a:solidFill>
          <a:ln>
            <a:solidFill>
              <a:srgbClr val="2F7F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New-Customer Test</a:t>
            </a:r>
          </a:p>
          <a:p>
            <a:pPr>
              <a:spcBef>
                <a:spcPts val="600"/>
              </a:spcBef>
            </a:pPr>
            <a:r>
              <a:rPr sz="2200" b="1">
                <a:solidFill>
                  <a:srgbClr val="FFFFFF"/>
                </a:solidFill>
              </a:rPr>
              <a:t>p = 0.384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FFFF"/>
                </a:solidFill>
              </a:rPr>
              <a:t>No decisive rate edge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914400"/>
            <a:ext cx="2514600" cy="1371600"/>
          </a:xfrm>
          <a:prstGeom prst="roundRect">
            <a:avLst/>
          </a:prstGeom>
          <a:solidFill>
            <a:srgbClr val="C96B59"/>
          </a:solidFill>
          <a:ln>
            <a:solidFill>
              <a:srgbClr val="C96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Primary Driver</a:t>
            </a:r>
          </a:p>
          <a:p>
            <a:pPr>
              <a:spcBef>
                <a:spcPts val="600"/>
              </a:spcBef>
            </a:pPr>
            <a:r>
              <a:rPr sz="2200" b="1">
                <a:solidFill>
                  <a:srgbClr val="FFFFFF"/>
                </a:solidFill>
              </a:rPr>
              <a:t>Scale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FFFF"/>
                </a:solidFill>
              </a:rPr>
              <a:t>Most revenue at equal spend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914400"/>
            <a:ext cx="2514600" cy="1371600"/>
          </a:xfrm>
          <a:prstGeom prst="roundRect">
            <a:avLst/>
          </a:prstGeom>
          <a:solidFill>
            <a:srgbClr val="CA8F2C"/>
          </a:solidFill>
          <a:ln>
            <a:solidFill>
              <a:srgbClr val="CA8F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Secondary Driver</a:t>
            </a:r>
          </a:p>
          <a:p>
            <a:pPr>
              <a:spcBef>
                <a:spcPts val="600"/>
              </a:spcBef>
            </a:pPr>
            <a:r>
              <a:rPr sz="2200" b="1">
                <a:solidFill>
                  <a:srgbClr val="FFFFFF"/>
                </a:solidFill>
              </a:rPr>
              <a:t>Efficiency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FFFF"/>
                </a:solidFill>
              </a:rPr>
              <a:t>Keep B + Instagram testing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743200"/>
          <a:ext cx="52120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52578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Channel</a:t>
                      </a:r>
                    </a:p>
                  </a:txBody>
                  <a:tcPr>
                    <a:solidFill>
                      <a:srgbClr val="20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B - A Sales</a:t>
                      </a:r>
                    </a:p>
                  </a:txBody>
                  <a:tcPr>
                    <a:solidFill>
                      <a:srgbClr val="20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B - A Conv.</a:t>
                      </a:r>
                    </a:p>
                  </a:txBody>
                  <a:tcPr>
                    <a:solidFill>
                      <a:srgbClr val="20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20364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Email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$118,324.43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+0.67 pp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0.180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Web Banner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$88,920.81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-0.05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0.927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Instagram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$79,752.49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-0.93 pp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2A3A"/>
                          </a:solidFill>
                        </a:rPr>
                        <a:t>0.116</a:t>
                      </a:r>
                    </a:p>
                  </a:txBody>
                  <a:tcPr>
                    <a:solidFill>
                      <a:srgbClr val="F8F5E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27432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D2A3A"/>
                </a:solidFill>
              </a:rPr>
              <a:t>The recommendation is revenue-driven, not based on a dramatic conversion-rate lift.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D2A3A"/>
                </a:solidFill>
              </a:rPr>
              <a:t>B + Email wins because it converts equal spend into the most total sales while keeping conversion quality stable.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D2A3A"/>
                </a:solidFill>
              </a:rPr>
              <a:t>B + Instagram remains the best secondary lane if the team wants an efficiency-focused follow-up test.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0364F"/>
                </a:solidFill>
              </a:rP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1D2A3A"/>
                </a:solidFill>
              </a:rPr>
              <a:t>Allocate the next wave of budget primarily to Campaign B + Email.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D2A3A"/>
                </a:solidFill>
              </a:rPr>
              <a:t>Refresh email subject lines, CTA wording, and offer framing before expanding into new channels.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D2A3A"/>
                </a:solidFill>
              </a:rPr>
              <a:t>Run B + Instagram as the secondary optimization lane to preserve learning on efficient reach.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1D2A3A"/>
                </a:solidFill>
              </a:rPr>
              <a:t>Track spend, CPA, and margin in the next test so the team can move from revenue ranking to full ROI optimization.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235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</a:rPr>
              <a:t>Limitation: the dataset does not include media cost or margin, so this is a commercial recommendation based on observed revenue, conversion, and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